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6E8EB"/>
                </a:solidFill>
                <a:latin typeface="Calibri"/>
              </a:defRPr>
            </a:pPr>
            <a:r>
              <a:t>Agentic Health Interoperability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95A5"/>
                </a:solidFill>
                <a:latin typeface="Calibri"/>
              </a:defRPr>
            </a:pPr>
            <a:r>
              <a:t>An AI-native framework for building healthcare integration copilots on IRIS for Health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5A5"/>
                </a:solidFill>
                <a:latin typeface="Calibri"/>
              </a:defRPr>
            </a:pPr>
            <a:r>
              <a:t>InterSystems AI Hub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33172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The Problem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Integration engineers spend 70% of their time on repetitive tasks: wiring productions, writing DTLs, debugging HL7 segment mappings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Deep IRIS expertise is scarce -- new engineers face a steep learning curve on ObjectScript, Productions, DTL, and the HS.* class library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Every customer builds the same plumbing from scratch: ADT routing, HL7-to-FHIR pipelines, error triage dashboards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No AI assistance exists today for IRIS-specific interoperability tasks -- general-purpose LLMs don't know Productions, SDA3, or the Ens.* class catalog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C55E"/>
                </a:solidFill>
                <a:latin typeface="Calibri"/>
              </a:defRPr>
            </a:pPr>
            <a:r>
              <a:t>The Solution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An AI framework built into IRIS for Health that understands Productions, DTL, HL7, FHIR, and the complete class library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Natural-language interface: engineers describe what they want, the agent builds it -- searching catalogs, proposing configurations, asking for approval, and validating results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Out-of-the-box agents, tools, and skills that cover the most common integration patterns -- ready to use on day one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Extensible framework: customers, SEs, and the dev community can add their own agents, MCPs, tools, and skills without modifying the 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Vision: An AI-Native Interoperability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5A"/>
                </a:solidFill>
                <a:latin typeface="Calibri"/>
              </a:defRPr>
            </a:pPr>
            <a:r>
              <a:t>The %AI Framework provides the primitives. We build the healthcare layer on top.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011680"/>
            <a:ext cx="7315200" cy="6400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Integration Engineer (natural language)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80360"/>
            <a:ext cx="3474720" cy="54864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Chat UI (streaming)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880360"/>
            <a:ext cx="347472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Admin UI (configuration)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657600"/>
            <a:ext cx="7315200" cy="54864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E6E8EB"/>
                </a:solidFill>
                <a:latin typeface="Calibri"/>
              </a:defRPr>
            </a:pPr>
            <a:r>
              <a:t>Health Interop Agent  +  12 Domain Skills  + 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434840"/>
            <a:ext cx="1691640" cy="5029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Production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4434840"/>
            <a:ext cx="1691640" cy="5029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Transform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434840"/>
            <a:ext cx="169164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4434840"/>
            <a:ext cx="1691640" cy="50292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Catalog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166360"/>
            <a:ext cx="7315200" cy="502920"/>
          </a:xfrm>
          <a:prstGeom prst="roundRect">
            <a:avLst/>
          </a:prstGeom>
          <a:solidFill>
            <a:srgbClr val="1A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0">
                <a:solidFill>
                  <a:srgbClr val="E6E8EB"/>
                </a:solidFill>
                <a:latin typeface="Calibri"/>
              </a:defRPr>
            </a:pPr>
            <a:r>
              <a:t>42 Tools  (ObjectScript + SQL + Embedded Python)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897880"/>
            <a:ext cx="7315200" cy="54864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0">
                <a:solidFill>
                  <a:srgbClr val="8B95A5"/>
                </a:solidFill>
                <a:latin typeface="Calibri"/>
              </a:defRPr>
            </a:pPr>
            <a:r>
              <a:t>IRIS for Health  |  Vector Search  |  Secured Wallet  |  Productions  |  %Dictionary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Three Core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45920"/>
            <a:ext cx="1188720" cy="3200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Build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Describe what you need in plain English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Agent searches class catalog for right Business Hosts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Proposes production layout for approval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Creates production, adds hosts, configures settings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Sends test messages and validates end-to-end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37160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45920"/>
            <a:ext cx="118872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OPERATE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Review &amp; Improve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Triage errors across all productions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Identify bottlenecks and recommend settings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Review DTLs for hardcoded values and missing checks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Suggest modernization using newer IRIS features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Verify fixes with automated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3832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0" y="1645920"/>
            <a:ext cx="1188720" cy="3200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Create Transformations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Trace data flow: HL7 v2 -&gt; SDA3 -&gt; FHIR R4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Introspect HL7 schemas at sub-field level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Create DTLs with correct source/target classes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Dry-run transformations against sample data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Field-level gap analysis via the Transformation and Mapping Catalog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Capabilities: Framework +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The framework ships with production-ready content. Customers and the community extend it without modifying the 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12064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08F"/>
                </a:solidFill>
                <a:latin typeface="Calibri"/>
              </a:defRPr>
            </a:pPr>
            <a:r>
              <a:t>Out of the Box (shipped by InterSystems)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1 Agent: Health Interop (router with orchestration policies)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4 MCP Servers: Production, Transform, Testing, Catalog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5 ToolSets with 42 Tools covering the full integration lifecycle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12 Skills: Productions, DTL, BPL, HL7 v2, FHIR R4, SDA, CDA, X12, Routing Rules, ESB Patterns, Adapters, REST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2 Vector Catalogs: Ens.* (164 classes) + HS.* (58 classes)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Transformation and Mapping Catalog: 1,538 field-level mappings across HL7/SDA3/FHIR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Admin UI + Chat UI, audit trail, connection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5120640" cy="438912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737360"/>
            <a:ext cx="51206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Calibri"/>
              </a:defRPr>
            </a:pPr>
            <a:r>
              <a:t>Community &amp; Customer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231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Agents: specialty copilots (Lab, Pharmacy, Claims, Imaging)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MCP Servers: wrap customer-specific APIs, EHR integrations, payer endpoints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Tools: call internal REST services, query custom tables, invoke Python ML models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Skills: organization-specific knowledge (local HL7 profiles, DTL conventions, naming standards)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SE-built accelerators: pre-built productions for common patterns (ADT routing, HL7-to-FHIR, claims processing)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ISV extensions: third-party tool packs distributed via IPM / Open Exchange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Case: Healthcare Agent Interop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What we built to prove the framework -- a working Copilot on IRIS for Health 2026.2</a:t>
            </a:r>
          </a:p>
        </p:txBody>
      </p:sp>
      <p:pic>
        <p:nvPicPr>
          <p:cNvPr id="5" name="Picture 4" descr="15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486400" cy="3429000"/>
          </a:xfrm>
          <a:prstGeom prst="rect">
            <a:avLst/>
          </a:prstGeom>
        </p:spPr>
      </p:pic>
      <p:pic>
        <p:nvPicPr>
          <p:cNvPr id="6" name="Picture 5" descr="13_transforms_hl7_fh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5303520" cy="3314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Chat: natural-language production builder with streaming + tool 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029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4A5A"/>
                </a:solidFill>
                <a:latin typeface="Calibri"/>
              </a:defRPr>
            </a:pPr>
            <a:r>
              <a:t>Transformation and Mapping Catalog: field-level HL7 v2 -&gt; SDA3 -&gt; FHIR R4 mapping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ObjectScript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AI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Domain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MCP Servers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1,538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Field Mappings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222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Indexed Classes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6E8EB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63500" cy="2331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54680" y="1417320"/>
            <a:ext cx="822960" cy="5029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DAYS</a:t>
            </a:r>
            <a:br/>
            <a:r>
              <a:t> 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Faster Time-to-Value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Engineers describe what they need in plain English. The agent builds, configures, and validates -- reducing production setup from days to minutes.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154680"/>
            <a:ext cx="1371600" cy="2743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10x faster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8016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280160"/>
            <a:ext cx="63500" cy="2331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0" y="1417320"/>
            <a:ext cx="822960" cy="5029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Lower Barrier to Entry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8288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New engineers are productive immediately. Natural-language guidance replaces the steep learning curve of ObjectScript, DTL, and the Ens.* class library.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154680"/>
            <a:ext cx="1371600" cy="2743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Zero ramp-up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28016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280160"/>
            <a:ext cx="63500" cy="233172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61320" y="1417320"/>
            <a:ext cx="822960" cy="50292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0</a:t>
            </a:r>
            <a:br/>
            <a:r>
              <a:t>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Higher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18288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Automated PostBuildValidation catches misconfigurations, missing settings, and broken routing before they ever reach a live production environment.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154680"/>
            <a:ext cx="1371600" cy="27432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Built-in validation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931920"/>
            <a:ext cx="63500" cy="233172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54680" y="4069080"/>
            <a:ext cx="822960" cy="50292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IRIS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069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Platform Stickiness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AI assistance embedded in the integration engine is a compelling reason to choose and stay on IRIS for Health. No competitor offers this today.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5806440"/>
            <a:ext cx="1371600" cy="27432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Unique to IRIS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34840" y="393192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40" y="3931920"/>
            <a:ext cx="63500" cy="2331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069080"/>
            <a:ext cx="82296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1+1=3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069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Community Flywheel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Every custom tool, skill, and agent built by customers, SEs, and ISVs benefits the entire ecosystem. Content compounds; the platform gets smarter over time.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5806440"/>
            <a:ext cx="1371600" cy="2743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Network effects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393192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38160" y="3931920"/>
            <a:ext cx="63500" cy="2331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561320" y="4069080"/>
            <a:ext cx="82296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ONLY</a:t>
            </a:r>
            <a:br/>
            <a:r>
              <a:t>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4069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Market Differentiator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No other integration platform ships an AI framework with domain-specific healthcare tools. This is a first-mover advantage in the agentic AI era.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6760" y="5806440"/>
            <a:ext cx="1371600" cy="2743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First in market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6E8EB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3474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6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87452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E6E8E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B8A6"/>
                </a:solidFill>
                <a:latin typeface="Calibri"/>
              </a:defRPr>
            </a:pPr>
            <a:r>
              <a:t>Immediate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E8EB"/>
                </a:solidFill>
                <a:latin typeface="Calibri"/>
              </a:defRPr>
            </a:pPr>
            <a:r>
              <a:t>Fix &amp; 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Fix 2 blocker bugs (Skill $ZF, Bedrock hang)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Ship ToolFilter as framework default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Document %AI.ToolMgr.ExecuteTool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383280" cy="3474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645920"/>
            <a:ext cx="338328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63440" y="1874520"/>
            <a:ext cx="45720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E6E8E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Q3-Q4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E8EB"/>
                </a:solidFill>
                <a:latin typeface="Calibri"/>
              </a:defRPr>
            </a:pPr>
            <a:r>
              <a:t>Field Trial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6517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Package as IPM for 3 customer pilots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Build 2-3 specialty agents (Lab, Pharmacy, Claims)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Open tool/skill authoring to SE community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45920"/>
            <a:ext cx="3383280" cy="3474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45920"/>
            <a:ext cx="338328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8745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E6E8E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E8EB"/>
                </a:solidFill>
                <a:latin typeface="Calibri"/>
              </a:defRPr>
            </a:pPr>
            <a:r>
              <a:t>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517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Publish to Open Exchange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SE accelerator library (20+ patterns)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Community marketplace for tools and 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5A5"/>
                </a:solidFill>
                <a:latin typeface="Calibri"/>
              </a:defRPr>
            </a:pPr>
            <a:r>
              <a:t>Built on IRIS for Health 2026.2  |  %AI Framework build 162.0  |  61 classes, 42 tools, 12 skills  |  Ready for field trial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