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914400" y="1371600"/>
            <a:ext cx="100584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600" b="1">
                <a:solidFill>
                  <a:srgbClr val="E6E8EB"/>
                </a:solidFill>
                <a:latin typeface="Calibri"/>
              </a:defRPr>
            </a:pPr>
            <a:r>
              <a:t>Agentic Health Interoperability Framework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914400" y="2560320"/>
            <a:ext cx="10058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8B95A5"/>
                </a:solidFill>
                <a:latin typeface="Calibri"/>
              </a:defRPr>
            </a:pPr>
            <a:r>
              <a:t>An AI-native framework for building healthcare integration copilots on IRIS for Health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84048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8B95A5"/>
                </a:solidFill>
                <a:latin typeface="Calibri"/>
              </a:defRPr>
            </a:pPr>
            <a:r>
              <a:t>InterSystems AI Hub  |  May 2026</a:t>
            </a:r>
          </a:p>
        </p:txBody>
      </p:sp>
      <p:sp>
        <p:nvSpPr>
          <p:cNvPr id="5" name="Rectangle 4"/>
          <p:cNvSpPr/>
          <p:nvPr/>
        </p:nvSpPr>
        <p:spPr>
          <a:xfrm>
            <a:off x="914400" y="2331720"/>
            <a:ext cx="27432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The Opportunity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029200" cy="4754880"/>
          </a:xfrm>
          <a:prstGeom prst="roundRect">
            <a:avLst/>
          </a:prstGeom>
          <a:solidFill>
            <a:srgbClr val="FFF1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05840" y="15544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EF4444"/>
                </a:solidFill>
                <a:latin typeface="Calibri"/>
              </a:defRPr>
            </a:pPr>
            <a:r>
              <a:t>The Problem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Integration engineers spend 70% of their time on repetitive tasks: wiring productions, writing DTLs, debugging HL7 segment mappings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Deep IRIS expertise is scarce -- new engineers face a steep learning curve on ObjectScript, Productions, DTL, and the HS.* class library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Every customer builds the same plumbing from scratch: ADT routing, HL7-to-FHIR pipelines, error triage dashboards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No AI assistance exists today for IRIS-specific interoperability tasks -- general-purpose LLMs don't know Productions, SDA3, or the Ens.* class catalog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371600"/>
            <a:ext cx="5303520" cy="4754880"/>
          </a:xfrm>
          <a:prstGeom prst="roundRect">
            <a:avLst/>
          </a:prstGeom>
          <a:solidFill>
            <a:srgbClr val="F0FDF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92240" y="1554480"/>
            <a:ext cx="47548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1">
                <a:solidFill>
                  <a:srgbClr val="22C55E"/>
                </a:solidFill>
                <a:latin typeface="Calibri"/>
              </a:defRPr>
            </a:pPr>
            <a:r>
              <a:t>The Solution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An AI framework built into IRIS for Health that understands Productions, DTL, HL7, FHIR, and the complete class library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Natural-language interface: engineers describe what they want, the agent builds it -- searching catalogs, proposing configurations, asking for approval, and validating results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Out-of-the-box agents, tools, and skills that cover the most common integration patterns -- ready to use on day one</a:t>
            </a:r>
          </a:p>
          <a:p>
            <a:pPr>
              <a:spcBef>
                <a:spcPts val="400"/>
              </a:spcBef>
              <a:defRPr sz="1400" b="0">
                <a:solidFill>
                  <a:srgbClr val="1A1A2E"/>
                </a:solidFill>
                <a:latin typeface="Calibri"/>
              </a:defRPr>
            </a:pPr>
            <a:r>
              <a:t>Extensible framework: customers, SEs, and the dev community can add their own agents, MCPs, tools, and skills without modifying the core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Vision: An AI-Native Interoperability Platform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4A4A5A"/>
                </a:solidFill>
                <a:latin typeface="Calibri"/>
              </a:defRPr>
            </a:pPr>
            <a:r>
              <a:t>The %AI Framework provides the primitives. We build the healthcare layer on top.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286000" y="2011680"/>
            <a:ext cx="7315200" cy="640080"/>
          </a:xfrm>
          <a:prstGeom prst="roundRect">
            <a:avLst/>
          </a:prstGeom>
          <a:solidFill>
            <a:srgbClr val="E0E7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400" b="1">
                <a:solidFill>
                  <a:srgbClr val="1A1A2E"/>
                </a:solidFill>
                <a:latin typeface="Calibri"/>
              </a:defRPr>
            </a:pPr>
            <a:r>
              <a:t>Integration Engineer (natural language)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286000" y="2880360"/>
            <a:ext cx="3474720" cy="54864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Chat UI (streaming)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26480" y="2880360"/>
            <a:ext cx="3474720" cy="54864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1">
                <a:solidFill>
                  <a:srgbClr val="E6E8EB"/>
                </a:solidFill>
                <a:latin typeface="Calibri"/>
              </a:defRPr>
            </a:pPr>
            <a:r>
              <a:t>Admin UI (configuration)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86000" y="3657600"/>
            <a:ext cx="7315200" cy="548640"/>
          </a:xfrm>
          <a:prstGeom prst="round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300" b="1">
                <a:solidFill>
                  <a:srgbClr val="E6E8EB"/>
                </a:solidFill>
                <a:latin typeface="Calibri"/>
              </a:defRPr>
            </a:pPr>
            <a:r>
              <a:t>Health Interop Agent  +  12 Domain Skills  +  Policies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286000" y="4434840"/>
            <a:ext cx="1691640" cy="5029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Production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160520" y="4434840"/>
            <a:ext cx="1691640" cy="5029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Transform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035040" y="4434840"/>
            <a:ext cx="169164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Testing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09560" y="4434840"/>
            <a:ext cx="1691640" cy="50292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1">
                <a:solidFill>
                  <a:srgbClr val="E6E8EB"/>
                </a:solidFill>
                <a:latin typeface="Calibri"/>
              </a:defRPr>
            </a:pPr>
            <a:r>
              <a:t>MCP: Catalog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286000" y="5166360"/>
            <a:ext cx="7315200" cy="502920"/>
          </a:xfrm>
          <a:prstGeom prst="roundRect">
            <a:avLst/>
          </a:prstGeom>
          <a:solidFill>
            <a:srgbClr val="1A1F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200" b="0">
                <a:solidFill>
                  <a:srgbClr val="E6E8EB"/>
                </a:solidFill>
                <a:latin typeface="Calibri"/>
              </a:defRPr>
            </a:pPr>
            <a:r>
              <a:t>42 Tools  (ObjectScript + SQL + Embedded Python)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286000" y="5897880"/>
            <a:ext cx="7315200" cy="548640"/>
          </a:xfrm>
          <a:prstGeom prst="roundRect">
            <a:avLst/>
          </a:prstGeom>
          <a:solidFill>
            <a:srgbClr val="0B0D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100" b="0">
                <a:solidFill>
                  <a:srgbClr val="8B95A5"/>
                </a:solidFill>
                <a:latin typeface="Calibri"/>
              </a:defRPr>
            </a:pPr>
            <a:r>
              <a:t>IRIS for Health  |  Vector Search  |  Secured Wallet  |  Productions  |  %Dictionary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Three Core Use Cases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371600"/>
            <a:ext cx="3383280" cy="508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1005840" y="1645920"/>
            <a:ext cx="1188720" cy="32004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BUILD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Build Productions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Describe what you need in plain English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Agent searches class catalog for right Business Hosts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Proposes production layout for approval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Creates production, adds hosts, configures settings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Sends test messages and validates end-to-end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43484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434840" y="1371600"/>
            <a:ext cx="3383280" cy="50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709160" y="1645920"/>
            <a:ext cx="1188720" cy="32004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OPERATE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70916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Review &amp; Improve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0916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Triage errors across all productions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Identify bottlenecks and recommend settings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Review DTLs for hardcoded values and missing checks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Suggest modernization using newer IRIS features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Verify fixes with automated validation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138160" y="1371600"/>
            <a:ext cx="3383280" cy="4572000"/>
          </a:xfrm>
          <a:prstGeom prst="round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138160" y="1371600"/>
            <a:ext cx="3383280" cy="508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0" y="1645920"/>
            <a:ext cx="1188720" cy="32004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TRANSFORM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12480" y="2103120"/>
            <a:ext cx="28346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1A1A2E"/>
                </a:solidFill>
                <a:latin typeface="Calibri"/>
              </a:defRPr>
            </a:pPr>
            <a:r>
              <a:t>Create Transformations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12480" y="2560320"/>
            <a:ext cx="283464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4A4A5A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Trace data flow: HL7 v2 -&gt; SDA3 -&gt; FHIR R4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Introspect HL7 schemas at sub-field level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Create DTLs with correct source/target classes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Dry-run transformations against sample data</a:t>
            </a:r>
          </a:p>
          <a:p>
            <a:pPr>
              <a:spcBef>
                <a:spcPts val="400"/>
              </a:spcBef>
              <a:defRPr sz="1200" b="0">
                <a:solidFill>
                  <a:srgbClr val="4A4A5A"/>
                </a:solidFill>
                <a:latin typeface="Calibri"/>
              </a:defRPr>
            </a:pPr>
            <a:r>
              <a:t>Field-level gap analysis via the Transformation and Mapping Catalog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Capabilities: Framework + Content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The framework ships with production-ready content. Customers and the community extend it without modifying the core.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737360"/>
            <a:ext cx="5120640" cy="4389120"/>
          </a:xfrm>
          <a:prstGeom prst="roundRect">
            <a:avLst/>
          </a:prstGeom>
          <a:solidFill>
            <a:srgbClr val="EFF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731520" y="1737360"/>
            <a:ext cx="5120640" cy="50800"/>
          </a:xfrm>
          <a:prstGeom prst="rect">
            <a:avLst/>
          </a:prstGeom>
          <a:solidFill>
            <a:srgbClr val="00508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920240"/>
            <a:ext cx="3657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00508F"/>
                </a:solidFill>
                <a:latin typeface="Calibri"/>
              </a:defRPr>
            </a:pPr>
            <a:r>
              <a:t>Out of the Box (shipped by InterSystems)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4231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1 Agent: Health Interop (router with orchestration policies)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4 MCP Servers: Production, Transform, Testing, Catalog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5 ToolSets with 42 Tools covering the full integration lifecycle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12 Skills: Productions, DTL, BPL, HL7 v2, FHIR R4, SDA, CDA, X12, Routing Rules, ESB Patterns, Adapters, REST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2 Vector Catalogs: Ens.* (164 classes) + HS.* (58 classes)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Transformation and Mapping Catalog: 1,538 field-level mappings across HL7/SDA3/FHIR</a:t>
            </a:r>
          </a:p>
          <a:p>
            <a:pPr>
              <a:spcBef>
                <a:spcPts val="400"/>
              </a:spcBef>
              <a:defRPr sz="1300" b="1">
                <a:solidFill>
                  <a:srgbClr val="1A1A2E"/>
                </a:solidFill>
                <a:latin typeface="Calibri"/>
              </a:defRPr>
            </a:pPr>
            <a:r>
              <a:t>Admin UI + Chat UI, audit trail, connection manager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737360"/>
            <a:ext cx="5120640" cy="4389120"/>
          </a:xfrm>
          <a:prstGeom prst="roundRect">
            <a:avLst/>
          </a:prstGeom>
          <a:solidFill>
            <a:srgbClr val="F5F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26480" y="1737360"/>
            <a:ext cx="5120640" cy="508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0" y="192024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7C3AED"/>
                </a:solidFill>
                <a:latin typeface="Calibri"/>
              </a:defRPr>
            </a:pPr>
            <a:r>
              <a:t>Community &amp; Customer Content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2423160"/>
            <a:ext cx="45720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1A1A2E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Agents: specialty copilots (Lab, Pharmacy, Claims, Imaging)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MCP Servers: wrap customer-specific APIs, EHR integrations, payer endpoints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Tools: call internal REST services, query custom tables, invoke Python ML models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Custom Skills: organization-specific knowledge (local HL7 profiles, DTL conventions, naming standards)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SE-built accelerators: pre-built productions for common patterns (ADT routing, HL7-to-FHIR, claims processing)</a:t>
            </a:r>
          </a:p>
          <a:p>
            <a:pPr>
              <a:spcBef>
                <a:spcPts val="400"/>
              </a:spcBef>
              <a:defRPr sz="1300" b="0">
                <a:solidFill>
                  <a:srgbClr val="1A1A2E"/>
                </a:solidFill>
                <a:latin typeface="Calibri"/>
              </a:defRPr>
            </a:pPr>
            <a:r>
              <a:t>ISV extensions: third-party tool packs distributed via IPM / Open Exchange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9F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000" b="1">
                <a:solidFill>
                  <a:srgbClr val="1A1A2E"/>
                </a:solidFill>
                <a:latin typeface="Calibri"/>
              </a:defRPr>
            </a:pPr>
            <a:r>
              <a:t>Use Case: Healthcare Agent Interop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22860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4A4A5A"/>
                </a:solidFill>
                <a:latin typeface="Calibri"/>
              </a:defRPr>
            </a:pPr>
            <a:r>
              <a:t>What we built to prove the framework -- a working Copilot on IRIS for Health 2026.2</a:t>
            </a:r>
          </a:p>
        </p:txBody>
      </p:sp>
      <p:pic>
        <p:nvPicPr>
          <p:cNvPr id="5" name="Picture 4" descr="15_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1520" y="1737360"/>
            <a:ext cx="5486400" cy="3429000"/>
          </a:xfrm>
          <a:prstGeom prst="rect">
            <a:avLst/>
          </a:prstGeom>
        </p:spPr>
      </p:pic>
      <p:pic>
        <p:nvPicPr>
          <p:cNvPr id="6" name="Picture 5" descr="13_transforms_hl7_fhir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0" y="1737360"/>
            <a:ext cx="5303520" cy="33147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31520" y="5029200"/>
            <a:ext cx="5486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4A5A"/>
                </a:solidFill>
                <a:latin typeface="Calibri"/>
              </a:defRPr>
            </a:pPr>
            <a:r>
              <a:t>Chat: natural-language production builder with streaming + tool cards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0" y="50292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4A4A5A"/>
                </a:solidFill>
                <a:latin typeface="Calibri"/>
              </a:defRPr>
            </a:pPr>
            <a:r>
              <a:t>Transformation and Mapping Catalog: field-level HL7 v2 -&gt; SDA3 -&gt; FHIR R4 mapping explorer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61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ObjectScript Classes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60604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42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0604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AI Tools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8056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Domain Skills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5508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5508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MCP Servers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1,538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Field Mappings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104120" y="5669280"/>
            <a:ext cx="16459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400" b="1">
                <a:solidFill>
                  <a:srgbClr val="606FF3"/>
                </a:solidFill>
                <a:latin typeface="Calibri"/>
              </a:defRPr>
            </a:pPr>
            <a:r>
              <a:t>222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104120" y="5989320"/>
            <a:ext cx="16459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000" b="0">
                <a:solidFill>
                  <a:srgbClr val="8B95A5"/>
                </a:solidFill>
                <a:latin typeface="Calibri"/>
              </a:defRPr>
            </a:pPr>
            <a:r>
              <a:t>Indexed Classes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6E8EB"/>
                </a:solidFill>
                <a:latin typeface="Calibri"/>
              </a:defRPr>
            </a:pPr>
            <a:r>
              <a:t>Why This Matters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28016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280160"/>
            <a:ext cx="63500" cy="233172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3154680" y="1417320"/>
            <a:ext cx="822960" cy="5029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DAYS</a:t>
            </a:r>
            <a:br/>
            <a:r>
              <a:t>  MIN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012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Faster Time-to-Value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60120" y="18288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Engineers describe what they need in plain English. The agent builds, configures, and validates -- reducing production setup from days to minutes.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60120" y="3154680"/>
            <a:ext cx="1371600" cy="27432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Measured: 25s planning, 2-5 min full build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28016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280160"/>
            <a:ext cx="63500" cy="233172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858000" y="1417320"/>
            <a:ext cx="822960" cy="5029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DAY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Lower Barrier to Entry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63440" y="18288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New engineers are productive immediately. Natural-language guidance replaces the steep learning curve of ObjectScript, DTL, and the Ens.* class library.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663440" y="3154680"/>
            <a:ext cx="1371600" cy="274320"/>
          </a:xfrm>
          <a:prstGeom prst="round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Zero ramp-up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28016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280160"/>
            <a:ext cx="63500" cy="233172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0561320" y="1417320"/>
            <a:ext cx="822960" cy="50292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0</a:t>
            </a:r>
            <a:br/>
            <a:r>
              <a:t>ERRORS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66760" y="141732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Higher Quality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66760" y="182880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Automated PostBuildValidation catches misconfigurations, missing settings, and broken routing before they ever reach a live production environment.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366760" y="3154680"/>
            <a:ext cx="1371600" cy="274320"/>
          </a:xfrm>
          <a:prstGeom prst="round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Built-in validation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1520" y="393192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31520" y="3931920"/>
            <a:ext cx="63500" cy="2331720"/>
          </a:xfrm>
          <a:prstGeom prst="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3154680" y="4069080"/>
            <a:ext cx="822960" cy="50292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IRIS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40690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Platform Stickiness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60120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AI assistance embedded in the integration engine is a compelling reason to choose and stay on IRIS for Health. No competitor offers this today.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60120" y="5806440"/>
            <a:ext cx="1371600" cy="274320"/>
          </a:xfrm>
          <a:prstGeom prst="roundRect">
            <a:avLst/>
          </a:prstGeom>
          <a:solidFill>
            <a:srgbClr val="007B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Unique to IRIS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4434840" y="393192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434840" y="3931920"/>
            <a:ext cx="63500" cy="233172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6858000" y="4069080"/>
            <a:ext cx="822960" cy="5029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1+1=3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663440" y="40690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Community Flywheel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63440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Every custom tool, skill, and agent built by customers, SEs, and ISVs benefits the entire ecosystem. Content compounds; the platform gets smarter over time.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4663440" y="5806440"/>
            <a:ext cx="1371600" cy="27432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Network effects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38160" y="3931920"/>
            <a:ext cx="3383280" cy="2331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38160" y="3931920"/>
            <a:ext cx="63500" cy="233172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10561320" y="4069080"/>
            <a:ext cx="82296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900" b="1">
                <a:solidFill>
                  <a:srgbClr val="E6E8EB"/>
                </a:solidFill>
                <a:latin typeface="Calibri"/>
              </a:defRPr>
            </a:pPr>
            <a:r>
              <a:t>ONLY</a:t>
            </a:r>
            <a:br/>
            <a:r>
              <a:t>ONE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66760" y="4069080"/>
            <a:ext cx="21031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1">
                <a:solidFill>
                  <a:srgbClr val="E6E8EB"/>
                </a:solidFill>
                <a:latin typeface="Calibri"/>
              </a:defRPr>
            </a:pPr>
            <a:r>
              <a:t>Market Differentiator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366760" y="4480560"/>
            <a:ext cx="292608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8B95A5"/>
                </a:solidFill>
                <a:latin typeface="Calibri"/>
              </a:defRPr>
            </a:pPr>
            <a:r>
              <a:t>No other integration platform ships an AI framework with domain-specific healthcare tools. This is a first-mover advantage in the agentic AI era.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366760" y="5806440"/>
            <a:ext cx="1371600" cy="2743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000" b="1">
                <a:solidFill>
                  <a:srgbClr val="E6E8EB"/>
                </a:solidFill>
                <a:latin typeface="Calibri"/>
              </a:defRPr>
            </a:pPr>
            <a:r>
              <a:t>First in market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D1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3200" b="1">
                <a:solidFill>
                  <a:srgbClr val="E6E8EB"/>
                </a:solidFill>
                <a:latin typeface="Calibri"/>
              </a:defRPr>
            </a:pPr>
            <a:r>
              <a:t>Next Steps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868680"/>
            <a:ext cx="1828800" cy="38100"/>
          </a:xfrm>
          <a:prstGeom prst="rect">
            <a:avLst/>
          </a:prstGeom>
          <a:solidFill>
            <a:srgbClr val="606F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645920"/>
            <a:ext cx="3383280" cy="3474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31520" y="1645920"/>
            <a:ext cx="3383280" cy="63500"/>
          </a:xfrm>
          <a:prstGeom prst="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60120" y="1874520"/>
            <a:ext cx="457200" cy="457200"/>
          </a:xfrm>
          <a:prstGeom prst="roundRect">
            <a:avLst/>
          </a:prstGeom>
          <a:solidFill>
            <a:srgbClr val="14B8A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E6E8EB"/>
                </a:solidFill>
                <a:latin typeface="Calibri"/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5448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4B8A6"/>
                </a:solidFill>
                <a:latin typeface="Calibri"/>
              </a:defRPr>
            </a:pPr>
            <a:r>
              <a:t>Immediate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5448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E8EB"/>
                </a:solidFill>
                <a:latin typeface="Calibri"/>
              </a:defRPr>
            </a:pPr>
            <a:r>
              <a:t>Fix &amp; 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6517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Fix 2 blocker bugs (Skill $ZF, Bedrock hang)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Ship ToolFilter as framework default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Document %AI.ToolMgr.ExecuteTool path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645920"/>
            <a:ext cx="3383280" cy="3474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434840" y="1645920"/>
            <a:ext cx="3383280" cy="635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663440" y="1874520"/>
            <a:ext cx="457200" cy="4572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E6E8EB"/>
                </a:solidFill>
                <a:latin typeface="Calibri"/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5780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Calibri"/>
              </a:defRPr>
            </a:pPr>
            <a:r>
              <a:t>Q3-Q4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25780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E8EB"/>
                </a:solidFill>
                <a:latin typeface="Calibri"/>
              </a:defRPr>
            </a:pPr>
            <a:r>
              <a:t>Field Trial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6517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Package as IPM for 3 customer pilots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Build 2-3 specialty agents (Lab, Pharmacy, Claims)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Open tool/skill authoring to SE community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38160" y="1645920"/>
            <a:ext cx="3383280" cy="3474720"/>
          </a:xfrm>
          <a:prstGeom prst="roundRect">
            <a:avLst/>
          </a:prstGeom>
          <a:solidFill>
            <a:srgbClr val="13171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38160" y="1645920"/>
            <a:ext cx="3383280" cy="63500"/>
          </a:xfrm>
          <a:prstGeom prst="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366760" y="1874520"/>
            <a:ext cx="457200" cy="457200"/>
          </a:xfrm>
          <a:prstGeom prst="roundRect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76200" tIns="50800" bIns="50800"/>
          <a:lstStyle/>
          <a:p>
            <a:pPr algn="ctr">
              <a:defRPr sz="1600" b="1">
                <a:solidFill>
                  <a:srgbClr val="E6E8EB"/>
                </a:solidFill>
                <a:latin typeface="Calibri"/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0" y="1874520"/>
            <a:ext cx="2286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7C3AED"/>
                </a:solidFill>
                <a:latin typeface="Calibri"/>
              </a:defRPr>
            </a:pPr>
            <a:r>
              <a:t>2027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0" y="2148840"/>
            <a:ext cx="2286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6E8EB"/>
                </a:solidFill>
                <a:latin typeface="Calibri"/>
              </a:defRPr>
            </a:pPr>
            <a:r>
              <a:t>Ecosystem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60" y="2651760"/>
            <a:ext cx="292608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6E8EB"/>
                </a:solidFill>
                <a:latin typeface="Calibri"/>
              </a:defRPr>
            </a:pP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Publish to Open Exchange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SE accelerator library (20+ patterns)</a:t>
            </a:r>
          </a:p>
          <a:p>
            <a:pPr>
              <a:spcBef>
                <a:spcPts val="400"/>
              </a:spcBef>
              <a:defRPr sz="1300" b="0">
                <a:solidFill>
                  <a:srgbClr val="8B95A5"/>
                </a:solidFill>
                <a:latin typeface="Calibri"/>
              </a:defRPr>
            </a:pPr>
            <a:r>
              <a:t>Community marketplace for tools and skills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56692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100" b="0">
                <a:solidFill>
                  <a:srgbClr val="8B95A5"/>
                </a:solidFill>
                <a:latin typeface="Calibri"/>
              </a:defRPr>
            </a:pPr>
            <a:r>
              <a:t>Built on IRIS for Health 2026.2  |  %AI Framework build 162.0  |  61 classes, 42 tools, 12 skills  |  Ready for field trial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