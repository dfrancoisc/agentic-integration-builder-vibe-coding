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6E8EB"/>
                </a:solidFill>
                <a:latin typeface="Calibri"/>
              </a:defRPr>
            </a:pPr>
            <a:r>
              <a:t>Agentic Health Interoperability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5A5"/>
                </a:solidFill>
                <a:latin typeface="Calibri"/>
              </a:defRPr>
            </a:pPr>
            <a:r>
              <a:t>Technical Deep-Dive: Architecture, Use Cases, and Extensibility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5A5"/>
                </a:solidFill>
                <a:latin typeface="Calibri"/>
              </a:defRPr>
            </a:pPr>
            <a:r>
              <a:t>InterSystems AI Hub  |  May 2026  |  PM / Engineering Audience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03120"/>
            <a:ext cx="27432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The %AI Framework: Five Primitives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4A5A"/>
                </a:solidFill>
                <a:latin typeface="Calibri"/>
              </a:defRPr>
            </a:pPr>
            <a:r>
              <a:t>IRIS for Health 2026.2 ships five AI primitives. The framework provides the plumbing; the content makes it useful.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0116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011680" cy="50800"/>
          </a:xfrm>
          <a:prstGeom prst="rect">
            <a:avLst/>
          </a:prstGeom>
          <a:solidFill>
            <a:srgbClr val="005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%AI.Agent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5176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Orchestrates multi-step tasks.</a:t>
            </a:r>
            <a:br/>
            <a:r>
              <a:t>Routes to tools, skills, policies.</a:t>
            </a:r>
            <a:br/>
            <a:r>
              <a:t>Manages conversation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737360"/>
            <a:ext cx="20116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71800" y="1737360"/>
            <a:ext cx="20116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MCP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%AI.MCP.Service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65176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Groups related tools into</a:t>
            </a:r>
            <a:br/>
            <a:r>
              <a:t>named service domains.</a:t>
            </a:r>
            <a:br/>
            <a:r>
              <a:t>In-process or HTTP/SSE transport.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80" y="1737360"/>
            <a:ext cx="20116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80" y="1737360"/>
            <a:ext cx="201168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ToolSet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%AI.ToolSet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65176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Collection of related tools.</a:t>
            </a:r>
            <a:br/>
            <a:r>
              <a:t>Auto-discovered by framework.</a:t>
            </a:r>
            <a:br/>
            <a:r>
              <a:t>JSON Schema input/output.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737360"/>
            <a:ext cx="20116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1737360"/>
            <a:ext cx="20116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Tool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%AI.Tool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65176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Single capability callable by LLM.</a:t>
            </a:r>
            <a:br/>
            <a:r>
              <a:t>ObjectScript, SQL, or Python.</a:t>
            </a:r>
            <a:br/>
            <a:r>
              <a:t>Confirmation gate support.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737360"/>
            <a:ext cx="20116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92640" y="1737360"/>
            <a:ext cx="201168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19202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Skill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228600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%AI.Agent.Skill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651760"/>
            <a:ext cx="1737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Domain knowledge as text.</a:t>
            </a:r>
            <a:br/>
            <a:r>
              <a:t>Injected as sub-agent tool.</a:t>
            </a:r>
            <a:br/>
            <a:r>
              <a:t>Up to 32K chars of instructions.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37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Binding chain:   Agent (1) --&gt; MCP Servers (N) --&gt; ToolSets (N) --&gt; Tools (N)     |     Skills (N) &lt;-&gt; Agent (N)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577840"/>
            <a:ext cx="5029200" cy="548640"/>
          </a:xfrm>
          <a:prstGeom prst="roundRect">
            <a:avLst/>
          </a:prstGeom>
          <a:solidFill>
            <a:srgbClr val="005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E6E8EB"/>
                </a:solidFill>
                <a:latin typeface="Calibri"/>
              </a:defRPr>
            </a:pPr>
            <a:r>
              <a:t>FRAMEWORK (shipped by InterSystems, not modified)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5577840"/>
            <a:ext cx="5303520" cy="5486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E6E8EB"/>
                </a:solidFill>
                <a:latin typeface="Calibri"/>
              </a:defRPr>
            </a:pPr>
            <a:r>
              <a:t>CONTENT (agents, tools, skills -- built on top of the framework)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Architecture: Healthcare Agent Interop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4480560" cy="594360"/>
          </a:xfrm>
          <a:prstGeom prst="round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E6E8EB"/>
                </a:solidFill>
                <a:latin typeface="Calibri"/>
              </a:defRPr>
            </a:pPr>
            <a:r>
              <a:t>Chat UI (SSE streaming, tool-call cards, confirmation gate)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4663440" cy="5943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E6E8EB"/>
                </a:solidFill>
                <a:latin typeface="Calibri"/>
              </a:defRPr>
            </a:pPr>
            <a:r>
              <a:t>Admin UI (agents, MCPs, tools, skills, connections, catalogs, transforms, audit)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148840"/>
            <a:ext cx="9418320" cy="45720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REST API: /api/agentic/*  (14 service classes, JWT/Basic auth, audit logging)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788920"/>
            <a:ext cx="4114800" cy="777240"/>
          </a:xfrm>
          <a:prstGeom prst="roundRect">
            <a:avLst/>
          </a:prstGeom>
          <a:solidFill>
            <a:srgbClr val="005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E6E8EB"/>
                </a:solidFill>
                <a:latin typeface="Calibri"/>
              </a:defRPr>
            </a:pPr>
            <a:r>
              <a:t>HealthInterop Agent</a:t>
            </a:r>
            <a:br/>
            <a:r>
              <a:t>Manager + Monitor + SkillLoader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788920"/>
            <a:ext cx="2377440" cy="77724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Policies</a:t>
            </a:r>
            <a:br/>
            <a:r>
              <a:t>ConfirmationGate</a:t>
            </a:r>
            <a:br/>
            <a:r>
              <a:t>ToolFilter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788920"/>
            <a:ext cx="2560320" cy="77724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12 Skills</a:t>
            </a:r>
            <a:br/>
            <a:r>
              <a:t>HL7 | FHIR | DTL | BPL</a:t>
            </a:r>
            <a:br/>
            <a:r>
              <a:t>SDA | CDA | X12 | 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749039"/>
            <a:ext cx="2194560" cy="6400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Production</a:t>
            </a:r>
            <a:br/>
            <a:r>
              <a:t>13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21608" y="3749039"/>
            <a:ext cx="219456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Transform</a:t>
            </a:r>
            <a:br/>
            <a:r>
              <a:t>13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3749039"/>
            <a:ext cx="2194560" cy="6400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Testing</a:t>
            </a:r>
            <a:br/>
            <a:r>
              <a:t>8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21624" y="3749039"/>
            <a:ext cx="2194560" cy="640080"/>
          </a:xfrm>
          <a:prstGeom prst="roundRect">
            <a:avLst/>
          </a:prstGeom>
          <a:solidFill>
            <a:srgbClr val="007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1">
                <a:solidFill>
                  <a:srgbClr val="E6E8EB"/>
                </a:solidFill>
                <a:latin typeface="Calibri"/>
              </a:defRPr>
            </a:pPr>
            <a:r>
              <a:t>Catalog</a:t>
            </a:r>
            <a:br/>
            <a:r>
              <a:t>8 tools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4572000"/>
            <a:ext cx="9418320" cy="457200"/>
          </a:xfrm>
          <a:prstGeom prst="roundRect">
            <a:avLst/>
          </a:prstGeom>
          <a:solidFill>
            <a:srgbClr val="1A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0">
                <a:solidFill>
                  <a:srgbClr val="E6E8EB"/>
                </a:solidFill>
                <a:latin typeface="Calibri"/>
              </a:defRPr>
            </a:pPr>
            <a:r>
              <a:t>42 Tools: ObjectScript class methods  |  SQL queries  |  Embedded Python  |  REST wrappers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212080"/>
            <a:ext cx="2194560" cy="594360"/>
          </a:xfrm>
          <a:prstGeom prst="roundRect">
            <a:avLst/>
          </a:prstGeom>
          <a:solidFill>
            <a:srgbClr val="0B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Vector Search</a:t>
            </a:r>
            <a:br/>
            <a:r>
              <a:t>HNSW + FastEmbed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21608" y="5212080"/>
            <a:ext cx="2194560" cy="594360"/>
          </a:xfrm>
          <a:prstGeom prst="roundRect">
            <a:avLst/>
          </a:prstGeom>
          <a:solidFill>
            <a:srgbClr val="0B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Secured Wallet</a:t>
            </a:r>
            <a:br/>
            <a:r>
              <a:t>API keys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71616" y="5212080"/>
            <a:ext cx="2194560" cy="594360"/>
          </a:xfrm>
          <a:prstGeom prst="roundRect">
            <a:avLst/>
          </a:prstGeom>
          <a:solidFill>
            <a:srgbClr val="0B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Productions</a:t>
            </a:r>
            <a:br/>
            <a:r>
              <a:t>live 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21624" y="5212080"/>
            <a:ext cx="2194560" cy="594360"/>
          </a:xfrm>
          <a:prstGeom prst="roundRect">
            <a:avLst/>
          </a:prstGeom>
          <a:solidFill>
            <a:srgbClr val="0B0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000" b="0">
                <a:solidFill>
                  <a:srgbClr val="8B95A5"/>
                </a:solidFill>
                <a:latin typeface="Calibri"/>
              </a:defRPr>
            </a:pPr>
            <a:r>
              <a:t>%Dictionary</a:t>
            </a:r>
            <a:br/>
            <a:r>
              <a:t>class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" y="13716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5A5"/>
                </a:solidFill>
                <a:latin typeface="Calibri"/>
              </a:defRPr>
            </a:pPr>
            <a:r>
              <a:t>UI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" y="21488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5A5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" y="27889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5A5"/>
                </a:solidFill>
                <a:latin typeface="Calibri"/>
              </a:defRPr>
            </a:pPr>
            <a:r>
              <a:t>Agent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" y="3749039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5A5"/>
                </a:solidFill>
                <a:latin typeface="Calibri"/>
              </a:defRPr>
            </a:pPr>
            <a:r>
              <a:t>MCP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" y="45720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5A5"/>
                </a:solidFill>
                <a:latin typeface="Calibri"/>
              </a:defRPr>
            </a:pPr>
            <a:r>
              <a:t>Tool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" y="52120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95A5"/>
                </a:solidFill>
                <a:latin typeface="Calibri"/>
              </a:defRPr>
            </a:pPr>
            <a:r>
              <a:t>IRIS Stores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Use Case 1: Build Productions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9202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92024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1. Discover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Agent searches</a:t>
            </a:r>
            <a:br/>
            <a:r>
              <a:t>Ens.* catalog for</a:t>
            </a:r>
            <a:br/>
            <a:r>
              <a:t>Business Hosts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280160"/>
            <a:ext cx="19202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0" y="1280160"/>
            <a:ext cx="1920240" cy="50800"/>
          </a:xfrm>
          <a:prstGeom prst="rect">
            <a:avLst/>
          </a:prstGeom>
          <a:solidFill>
            <a:srgbClr val="005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08F"/>
                </a:solidFill>
                <a:latin typeface="Calibri"/>
              </a:defRPr>
            </a:pPr>
            <a:r>
              <a:t>2. Propose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783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Agent presents</a:t>
            </a:r>
            <a:br/>
            <a:r>
              <a:t>production layout</a:t>
            </a:r>
            <a:br/>
            <a:r>
              <a:t>for approval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280160"/>
            <a:ext cx="19202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0" y="1280160"/>
            <a:ext cx="192024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3.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783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Creates production,</a:t>
            </a:r>
            <a:br/>
            <a:r>
              <a:t>adds hosts, settings,</a:t>
            </a:r>
            <a:br/>
            <a:r>
              <a:t>routing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280160"/>
            <a:ext cx="19202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78040" y="1280160"/>
            <a:ext cx="19202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4. 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1783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PostBuildValidation</a:t>
            </a:r>
            <a:br/>
            <a:r>
              <a:t>+ test HL7 message</a:t>
            </a:r>
            <a:br/>
            <a:r>
              <a:t>through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1280160"/>
            <a:ext cx="1920240" cy="1463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1280160"/>
            <a:ext cx="19202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1417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Calibri"/>
              </a:defRPr>
            </a:pPr>
            <a:r>
              <a:t>5.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17830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Summarizes what</a:t>
            </a:r>
            <a:br/>
            <a:r>
              <a:t>was built, surfaces</a:t>
            </a:r>
            <a:br/>
            <a:r>
              <a:t>any warnings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Tools: search_ens, describe_class, create_production, add_business_host, update_settings, create_routing_rule, start/stop_production, PostBuildValidation, BuildAndSendHL7TestMessage</a:t>
            </a:r>
          </a:p>
        </p:txBody>
      </p:sp>
      <p:pic>
        <p:nvPicPr>
          <p:cNvPr id="25" name="Picture 24" descr="15_chat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566160"/>
            <a:ext cx="10515600" cy="6572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Use Case 2: Review &amp; Improve Existing Productions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9E0B"/>
                </a:solidFill>
                <a:latin typeface="Calibri"/>
              </a:defRPr>
            </a:pPr>
            <a:r>
              <a:t>Error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Query Event Log for recent errors.</a:t>
            </a:r>
            <a:br/>
            <a:r>
              <a:t>Group by Business Host.</a:t>
            </a:r>
            <a:br/>
            <a:r>
              <a:t>Identify suspended messages.</a:t>
            </a:r>
            <a:br/>
            <a:r>
              <a:t>Recommend remediation.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371600"/>
            <a:ext cx="256032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B8A6"/>
                </a:solidFill>
                <a:latin typeface="Calibri"/>
              </a:defRPr>
            </a:pPr>
            <a:r>
              <a:t>Health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9202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Inspect production config.</a:t>
            </a:r>
            <a:br/>
            <a:r>
              <a:t>Check queue depths and throughput.</a:t>
            </a:r>
            <a:br/>
            <a:r>
              <a:t>Identify bottlenecks.</a:t>
            </a:r>
            <a:br/>
            <a:r>
              <a:t>Recommend settings changes.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56032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C55E"/>
                </a:solidFill>
                <a:latin typeface="Calibri"/>
              </a:defRPr>
            </a:pPr>
            <a:r>
              <a:t>DTL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Spot hardcoded values.</a:t>
            </a:r>
            <a:br/>
            <a:r>
              <a:t>Find missing null checks.</a:t>
            </a:r>
            <a:br/>
            <a:r>
              <a:t>Flag repeating-field bugs.</a:t>
            </a:r>
            <a:br/>
            <a:r>
              <a:t>Suggest refactored versions.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371600"/>
            <a:ext cx="25603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61120" y="1371600"/>
            <a:ext cx="256032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554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t>Modernization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1920240"/>
            <a:ext cx="2194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Recommend newer IRIS features.</a:t>
            </a:r>
            <a:br/>
            <a:r>
              <a:t>Replace custom BPL with DTL.</a:t>
            </a:r>
            <a:br/>
            <a:r>
              <a:t>Adopt HL7-to-SDA-to-FHIR.</a:t>
            </a:r>
            <a:br/>
            <a:r>
              <a:t>Use record maps over parsers.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Tools: get_production, query_event_log, top_errors, query_message_status, message_summary, queue_status, list_dtls, describe_class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5A5"/>
                </a:solidFill>
                <a:latin typeface="Calibri"/>
              </a:defRPr>
            </a:pPr>
            <a:r>
              <a:t>Skills: Productions, DTL, BPL, Adapters, ESBPattern -- deep domain knowledge for context-aware recommendations</a:t>
            </a:r>
          </a:p>
        </p:txBody>
      </p:sp>
      <p:pic>
        <p:nvPicPr>
          <p:cNvPr id="22" name="Picture 21" descr="14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663440"/>
            <a:ext cx="10515600" cy="6572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Use Case 3: Create &amp; Optimize Transformations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A4A5A"/>
                </a:solidFill>
                <a:latin typeface="Calibri"/>
              </a:defRPr>
            </a:pPr>
            <a:r>
              <a:t>SDA3 is the universal pivot -- all external formats map through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2286000" cy="6400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E6E8EB"/>
                </a:solidFill>
                <a:latin typeface="Calibri"/>
              </a:defRPr>
            </a:pPr>
            <a:r>
              <a:t>HL7 v2 (inbound)</a:t>
            </a:r>
            <a:br/>
            <a:r>
              <a:t>PID.11.3 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828800"/>
            <a:ext cx="2743200" cy="640080"/>
          </a:xfrm>
          <a:prstGeom prst="roundRect">
            <a:avLst/>
          </a:prstGeom>
          <a:solidFill>
            <a:srgbClr val="005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E6E8EB"/>
                </a:solidFill>
                <a:latin typeface="Calibri"/>
              </a:defRPr>
            </a:pPr>
            <a:r>
              <a:t>SDA3 (canonical)</a:t>
            </a:r>
            <a:br/>
            <a:r>
              <a:t>Address.City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828800"/>
            <a:ext cx="2560320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E6E8EB"/>
                </a:solidFill>
                <a:latin typeface="Calibri"/>
              </a:defRPr>
            </a:pPr>
            <a:r>
              <a:t>FHIR R4 (outbound)</a:t>
            </a:r>
            <a:br/>
            <a:r>
              <a:t>Address.city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HS.Gateway.HL7.</a:t>
            </a:r>
            <a:br/>
            <a:r>
              <a:t>HL7ToSDA3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5A5"/>
                </a:solidFill>
                <a:latin typeface="Calibri"/>
              </a:defRPr>
            </a:pPr>
            <a:r>
              <a:t>HS.FHIR.DTL.SDA3.</a:t>
            </a:r>
            <a:br/>
            <a:r>
              <a:t>vR4.Address.Address</a:t>
            </a:r>
          </a:p>
        </p:txBody>
      </p:sp>
      <p:pic>
        <p:nvPicPr>
          <p:cNvPr id="10" name="Picture 9" descr="13_transforms_hl7_fh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08960"/>
            <a:ext cx="10515600" cy="6572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Framework vs. Content: What Ships vs. What's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50800"/>
          </a:xfrm>
          <a:prstGeom prst="rect">
            <a:avLst/>
          </a:prstGeom>
          <a:solidFill>
            <a:srgbClr val="005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08F"/>
                </a:solidFill>
                <a:latin typeface="Calibri"/>
              </a:defRPr>
            </a:pPr>
            <a:r>
              <a:t>IRIS %AI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Shipped by InterSystems</a:t>
            </a:r>
            <a:br/>
            <a:r>
              <a:t>Do NOT modify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%AI.Agent runtime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%AI.MCP.Service transport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%AI.ToolSet / %AI.Tool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%AI.Agent.Skill engine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%AI.RAG.KnowledgeBase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Rust LLM bridge (multi-provider)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FastEmbed (384-dim vectors)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JSON Schema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33832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B8A6"/>
                </a:solidFill>
                <a:latin typeface="Calibri"/>
              </a:defRPr>
            </a:pPr>
            <a:r>
              <a:t>Out-of-the-Box Content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Shipped as IPM package</a:t>
            </a:r>
            <a:br/>
            <a:r>
              <a:t>Upgradeable, overridable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4688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HealthInterop Agent + policies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4 MCP Servers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42 Tools across 5 ToolSets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12 Skills (HL7, FHIR, DTL, ...)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2 Vector Catalogs (222 classes)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Transformation and Mapping Catalog (1,538 field mappings)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Admin UI + Chat UI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Overlay pattern for customization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1371600"/>
            <a:ext cx="3383280" cy="4754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80" y="1371600"/>
            <a:ext cx="338328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3AED"/>
                </a:solidFill>
                <a:latin typeface="Calibri"/>
              </a:defRPr>
            </a:pPr>
            <a:r>
              <a:t>Customer / Community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920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Built on top of framework</a:t>
            </a:r>
            <a:br/>
            <a:r>
              <a:t>Distributed via IPM / 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4688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Custom Agents (Lab, Pharmacy, Claims)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Custom MCP Servers (EHR wrappers)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Custom Tools (org-specific APIs)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Custom Skills (local conventions)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SE accelerators (common patterns)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ISV tool packs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Training datasets for skills</a:t>
            </a:r>
          </a:p>
          <a:p>
            <a:pPr>
              <a:spcBef>
                <a:spcPts val="400"/>
              </a:spcBef>
              <a:defRPr sz="1100" b="0">
                <a:solidFill>
                  <a:srgbClr val="1A1A2E"/>
                </a:solidFill>
                <a:latin typeface="Calibri"/>
              </a:defRPr>
            </a:pPr>
            <a:r>
              <a:t>Regional HL7 profile knowledge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Vector Catalogs: Semantic Search over IRIS Classes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7432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9728" cy="12801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search_ens  (164 classes)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Business Hosts, Services, Processes, Operations, Adapters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BS:53  BO:38  BP:14  MSG:14  OBA:14  UTL:14  IBA:13  DTL:2  PRD:1  BPL:1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051560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109728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Calibri"/>
              </a:defRPr>
            </a:pPr>
            <a:r>
              <a:t>search_hs  (58 classes)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5A"/>
                </a:solidFill>
                <a:latin typeface="Calibri"/>
              </a:defRPr>
            </a:pPr>
            <a:r>
              <a:t>HealthShare transformations, FHIR mappers, SDA helpers, HL7 gateways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5A5"/>
                </a:solidFill>
                <a:latin typeface="Calibri"/>
              </a:defRPr>
            </a:pPr>
            <a:r>
              <a:t>DTL:10  SCH:9  BS:8  BP:7  BO:7  GATEWAY:5  API:5  FHIR-DTL:3  CDA:2  HS-MESSAGE:1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80560"/>
            <a:ext cx="10515600" cy="731520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0">
                <a:solidFill>
                  <a:srgbClr val="1A1A2E"/>
                </a:solidFill>
                <a:latin typeface="Calibri"/>
              </a:defRPr>
            </a:pPr>
            <a:r>
              <a:t>Key lesson: curated prose (class name + description + key parameters) dramatically outperforms raw class dumps in 384-dim embeddings. Auto-generated accessors and storage boilerplate drown out semantic signal.</a:t>
            </a:r>
          </a:p>
        </p:txBody>
      </p:sp>
      <p:pic>
        <p:nvPicPr>
          <p:cNvPr id="15" name="Picture 14" descr="11_catalo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394960"/>
            <a:ext cx="10515600" cy="6572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Calibri"/>
              </a:defRPr>
            </a:pPr>
            <a:r>
              <a:t>Performance: Token Optimization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22860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5A5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6FF3"/>
                </a:solidFill>
                <a:latin typeface="Calibri"/>
              </a:defRPr>
            </a:pPr>
            <a:r>
              <a:t>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783080"/>
            <a:ext cx="105156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562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Tool catalog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56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  <a:latin typeface="Calibri"/>
              </a:defRPr>
            </a:pPr>
            <a:r>
              <a:t>~15K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856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Calibri"/>
              </a:defRPr>
            </a:pPr>
            <a:r>
              <a:t>~10K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18562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6FF3"/>
                </a:solidFill>
                <a:latin typeface="Calibri"/>
              </a:defRPr>
            </a:pPr>
            <a:r>
              <a:t>-33%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591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System prompt tokens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591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  <a:latin typeface="Calibri"/>
              </a:defRPr>
            </a:pPr>
            <a:r>
              <a:t>~5K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3591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Calibri"/>
              </a:defRPr>
            </a:pPr>
            <a:r>
              <a:t>~2K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359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6FF3"/>
                </a:solidFill>
                <a:latin typeface="Calibri"/>
              </a:defRPr>
            </a:pPr>
            <a:r>
              <a:t>-60%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788920"/>
            <a:ext cx="105156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862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Simple query (total)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862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  <a:latin typeface="Calibri"/>
              </a:defRPr>
            </a:pPr>
            <a:r>
              <a:t>~25K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8620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Calibri"/>
              </a:defRPr>
            </a:pPr>
            <a:r>
              <a:t>~15K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862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6FF3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364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Complex task (total)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364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  <a:latin typeface="Calibri"/>
              </a:defRPr>
            </a:pPr>
            <a:r>
              <a:t>~120K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3649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Calibri"/>
              </a:defRPr>
            </a:pPr>
            <a:r>
              <a:t>~50K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364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6FF3"/>
                </a:solidFill>
                <a:latin typeface="Calibri"/>
              </a:defRPr>
            </a:pPr>
            <a:r>
              <a:t>-58%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794760"/>
            <a:ext cx="10515600" cy="457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867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Simple query latency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867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  <a:latin typeface="Calibri"/>
              </a:defRPr>
            </a:pPr>
            <a:r>
              <a:t>8-12s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867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Calibri"/>
              </a:defRPr>
            </a:pPr>
            <a:r>
              <a:t>3-5s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38679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6FF3"/>
                </a:solidFill>
                <a:latin typeface="Calibri"/>
              </a:defRPr>
            </a:pPr>
            <a:r>
              <a:t>-60%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370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Complex task latency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370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F4444"/>
                </a:solidFill>
                <a:latin typeface="Calibri"/>
              </a:defRPr>
            </a:pPr>
            <a:r>
              <a:t>90s+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3708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2C55E"/>
                </a:solidFill>
                <a:latin typeface="Calibri"/>
              </a:defRPr>
            </a:pPr>
            <a:r>
              <a:t>45-60s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43708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6FF3"/>
                </a:solidFill>
                <a:latin typeface="Calibri"/>
              </a:defRPr>
            </a:pPr>
            <a:r>
              <a:t>-40%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Calibri"/>
              </a:defRPr>
            </a:pPr>
            <a:r>
              <a:t>Six optimization strategies applied: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ToolFilter policy: strips 15 framework waste tools before each LLM 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Concise tool descriptions: imperative contracts instead of verbose explanations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172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No markdown in responses: eliminates rendering bugs in chat UI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Monitor token budget: 50K cap per turn prevents runaway costs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792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Multi-turn task decomposition: research -&gt; propose -&gt; build -&gt; validate -&gt; report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6172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5A"/>
                </a:solidFill>
                <a:latin typeface="Calibri"/>
              </a:defRPr>
            </a:pPr>
            <a:r>
              <a:t>Compact system prompt: &lt; 2K tokens; domain knowledge lives in Skills, not in prompt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E8EB"/>
                </a:solidFill>
                <a:latin typeface="Calibri"/>
              </a:defRPr>
            </a:pPr>
            <a:r>
              <a:t>Roadmap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868680"/>
            <a:ext cx="1828800" cy="38100"/>
          </a:xfrm>
          <a:prstGeom prst="rect">
            <a:avLst/>
          </a:prstGeom>
          <a:solidFill>
            <a:srgbClr val="606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114800"/>
          </a:xfrm>
          <a:prstGeom prst="roundRect">
            <a:avLst/>
          </a:prstGeom>
          <a:solidFill>
            <a:srgbClr val="13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Calibri"/>
              </a:defRPr>
            </a:pPr>
            <a:r>
              <a:t>Now (Q3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8E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Fix Skill %OnNew $ZF marshaling bug</a:t>
            </a: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Fix Bedrock tool-result round-trip hang</a:t>
            </a: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Ship ToolFilter as framework default</a:t>
            </a: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Document %AI.ToolMgr.ExecuteTool query path</a:t>
            </a: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Package as IPM for field trial (3 customers)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71600"/>
            <a:ext cx="3383280" cy="4114800"/>
          </a:xfrm>
          <a:prstGeom prst="roundRect">
            <a:avLst/>
          </a:prstGeom>
          <a:solidFill>
            <a:srgbClr val="13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38328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Next (Q4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8E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Multi-agent support (Lab, Pharmacy, Claims)</a:t>
            </a: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Tool authoring wizard in admin UI</a:t>
            </a: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Skill content editor with live preview</a:t>
            </a: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FHIR STU3 and CDA Transformation and Mapping Catalog coverage</a:t>
            </a: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Open Exchange publication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371600"/>
            <a:ext cx="3383280" cy="4114800"/>
          </a:xfrm>
          <a:prstGeom prst="roundRect">
            <a:avLst/>
          </a:prstGeom>
          <a:solidFill>
            <a:srgbClr val="131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80" y="1371600"/>
            <a:ext cx="338328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Later (2027)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031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8EB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Community marketplace for tools and skills</a:t>
            </a: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SE accelerator library (20+ production patterns)</a:t>
            </a: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Automated migration assistant (upgrade old DTLs)</a:t>
            </a: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Multi-namespace agent isolation</a:t>
            </a:r>
          </a:p>
          <a:p>
            <a:pPr>
              <a:spcBef>
                <a:spcPts val="400"/>
              </a:spcBef>
              <a:defRPr sz="1200" b="0">
                <a:solidFill>
                  <a:srgbClr val="E6E8EB"/>
                </a:solidFill>
                <a:latin typeface="Calibri"/>
              </a:defRPr>
            </a:pPr>
            <a:r>
              <a:t>Embedded training mode (learn-by-building)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95A5"/>
                </a:solidFill>
                <a:latin typeface="Calibri"/>
              </a:defRPr>
            </a:pPr>
            <a:r>
              <a:t>Blockers to resolve before field trial: 2 framework bugs (Skill %OnNew, Bedrock hang)  |  Built on IRIS for Health 2026.2 with %AI Framework build 162.0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