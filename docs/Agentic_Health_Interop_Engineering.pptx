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6E8EB"/>
                </a:solidFill>
                <a:latin typeface="Calibri"/>
              </a:defRPr>
            </a:pPr>
            <a:r>
              <a:t>Agentic Health Interoperability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95A5"/>
                </a:solidFill>
                <a:latin typeface="Calibri"/>
              </a:defRPr>
            </a:pPr>
            <a:r>
              <a:t>Technical Deep-Dive: Architecture, Use Cases, and Extensibility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5A5"/>
                </a:solidFill>
                <a:latin typeface="Calibri"/>
              </a:defRPr>
            </a:pPr>
            <a:r>
              <a:t>InterSystems AI Hub  |  May 2026  |  PM / Engineering Audience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0312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The %AI Framework: Five Primitives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IRIS for Health 2026.2 ships five AI primitives. The framework provides the plumbing; the content makes it useful.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201168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Orchestrates multi-step tasks.</a:t>
            </a:r>
            <a:br/>
            <a:r>
              <a:t>Routes to tools, skills, policies.</a:t>
            </a:r>
            <a:br/>
            <a:r>
              <a:t>Manages conversation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71800" y="173736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%AI.MCP.Service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Groups related tools into</a:t>
            </a:r>
            <a:br/>
            <a:r>
              <a:t>named service domains.</a:t>
            </a:r>
            <a:br/>
            <a:r>
              <a:t>In-process or HTTP/SSE transport.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12080" y="173736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ToolSet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%AI.ToolSet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Collection of related tools.</a:t>
            </a:r>
            <a:br/>
            <a:r>
              <a:t>Auto-discovered by framework.</a:t>
            </a:r>
            <a:br/>
            <a:r>
              <a:t>JSON Schema input/output.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1737360"/>
            <a:ext cx="20116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Single capability callable by LLM.</a:t>
            </a:r>
            <a:br/>
            <a:r>
              <a:t>ObjectScript, SQL, or Python.</a:t>
            </a:r>
            <a:br/>
            <a:r>
              <a:t>Confirmation gate support.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0" y="1737360"/>
            <a:ext cx="20116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%AI.Agent.Skill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Domain knowledge as text.</a:t>
            </a:r>
            <a:br/>
            <a:r>
              <a:t>Injected as sub-agent tool.</a:t>
            </a:r>
            <a:br/>
            <a:r>
              <a:t>Up to 32K chars of instructions.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Binding chain:   Agent (1) --&gt; MCP Servers (N) --&gt; ToolSets (N) --&gt; Tools (N)     |     Skills (N) &lt;-&gt; Agent (N)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577840"/>
            <a:ext cx="5029200" cy="5486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FRAMEWORK (shipped by InterSystems, not modified)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577840"/>
            <a:ext cx="530352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CONTENT (agents, tools, skills -- built on top of the framework)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Architecture: Healthcare Agent Interop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4480560" cy="59436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Chat UI (SSE streaming, tool-call cards, confirmation gate)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71600"/>
            <a:ext cx="466344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Admin UI (agents, MCPs, tools, skills, connections, catalogs, transforms, audit)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148840"/>
            <a:ext cx="9418320" cy="4572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REST API: /api/agentic/*  (14 service classes, JWT/Basic auth, audit logging)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788920"/>
            <a:ext cx="4114800" cy="7772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HealthInterop Agent</a:t>
            </a:r>
            <a:br/>
            <a:r>
              <a:t>Manager + Monitor + SkillLoader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788920"/>
            <a:ext cx="2377440" cy="7772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Policies</a:t>
            </a:r>
            <a:br/>
            <a:r>
              <a:t>ConfirmationGate</a:t>
            </a:r>
            <a:br/>
            <a:r>
              <a:t>ToolFilter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788920"/>
            <a:ext cx="2560320" cy="7772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12 Skills</a:t>
            </a:r>
            <a:br/>
            <a:r>
              <a:t>HL7 | FHIR | DTL | BPL</a:t>
            </a:r>
            <a:br/>
            <a:r>
              <a:t>SDA | CDA | X12 | 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749039"/>
            <a:ext cx="2194560" cy="6400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Production</a:t>
            </a:r>
            <a:br/>
            <a:r>
              <a:t>13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21608" y="3749039"/>
            <a:ext cx="2194560" cy="6400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Transform</a:t>
            </a:r>
            <a:br/>
            <a:r>
              <a:t>13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3749039"/>
            <a:ext cx="219456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Testing</a:t>
            </a:r>
            <a:br/>
            <a:r>
              <a:t>8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21624" y="3749039"/>
            <a:ext cx="2194560" cy="64008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Catalog</a:t>
            </a:r>
            <a:br/>
            <a:r>
              <a:t>8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72000"/>
            <a:ext cx="9418320" cy="457200"/>
          </a:xfrm>
          <a:prstGeom prst="roundRect">
            <a:avLst/>
          </a:prstGeom>
          <a:solidFill>
            <a:srgbClr val="1A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E6E8EB"/>
                </a:solidFill>
                <a:latin typeface="Calibri"/>
              </a:defRPr>
            </a:pPr>
            <a:r>
              <a:t>42 Tools: ObjectScript class methods  |  SQL queries  |  Embedded Python  |  REST wrappers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Vector Search</a:t>
            </a:r>
            <a:br/>
            <a:r>
              <a:t>HNSW + FastEmbed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21608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Secured Wallet</a:t>
            </a:r>
            <a:br/>
            <a:r>
              <a:t>API keys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Productions</a:t>
            </a:r>
            <a:br/>
            <a:r>
              <a:t>live 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21624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%Dictionary</a:t>
            </a:r>
            <a:br/>
            <a:r>
              <a:t>class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13716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UI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21488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API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2788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Agent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7490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MCP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45720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Tool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212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IRIS Stores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1: Build Productions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92024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Calibri"/>
              </a:defRPr>
            </a:pPr>
            <a:r>
              <a:t>1.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Agent searches</a:t>
            </a:r>
            <a:br/>
            <a:r>
              <a:t>Ens.* catalog for</a:t>
            </a:r>
            <a:br/>
            <a:r>
              <a:t>Business Hosts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280160"/>
            <a:ext cx="192024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08F"/>
                </a:solidFill>
                <a:latin typeface="Calibri"/>
              </a:defRPr>
            </a:pPr>
            <a:r>
              <a:t>2. Propose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Agent presents</a:t>
            </a:r>
            <a:br/>
            <a:r>
              <a:t>production layout</a:t>
            </a:r>
            <a:br/>
            <a:r>
              <a:t>for approval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280160"/>
            <a:ext cx="192024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Calibri"/>
              </a:defRPr>
            </a:pPr>
            <a:r>
              <a:t>3.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Creates production,</a:t>
            </a:r>
            <a:br/>
            <a:r>
              <a:t>adds hosts, settings,</a:t>
            </a:r>
            <a:br/>
            <a:r>
              <a:t>routing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78040" y="1280160"/>
            <a:ext cx="19202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4. 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PostBuildValidation</a:t>
            </a:r>
            <a:br/>
            <a:r>
              <a:t>+ test HL7 message</a:t>
            </a:r>
            <a:br/>
            <a:r>
              <a:t>through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280160"/>
            <a:ext cx="19202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5.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Summarizes what</a:t>
            </a:r>
            <a:br/>
            <a:r>
              <a:t>was built, surfaces</a:t>
            </a:r>
            <a:br/>
            <a:r>
              <a:t>any warnings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Tools: search_ens, describe_class, create_production, add_business_host, update_settings, create_routing_rule, start/stop_production, PostBuildValidation, BuildAndSendHL7TestMessage</a:t>
            </a:r>
          </a:p>
        </p:txBody>
      </p:sp>
      <p:pic>
        <p:nvPicPr>
          <p:cNvPr id="25" name="Picture 24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661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2: Review &amp; Improve Existing Productions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Error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Query Event Log for recent errors.</a:t>
            </a:r>
            <a:br/>
            <a:r>
              <a:t>Group by Business Host.</a:t>
            </a:r>
            <a:br/>
            <a:r>
              <a:t>Identify suspended messages.</a:t>
            </a:r>
            <a:br/>
            <a:r>
              <a:t>Recommend remediation.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Calibri"/>
              </a:defRPr>
            </a:pPr>
            <a:r>
              <a:t>Health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Inspect production config.</a:t>
            </a:r>
            <a:br/>
            <a:r>
              <a:t>Check queue depths and throughput.</a:t>
            </a:r>
            <a:br/>
            <a:r>
              <a:t>Identify bottlenecks.</a:t>
            </a:r>
            <a:br/>
            <a:r>
              <a:t>Recommend settings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6032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Calibri"/>
              </a:defRPr>
            </a:pPr>
            <a:r>
              <a:t>DTL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Spot hardcoded values.</a:t>
            </a:r>
            <a:br/>
            <a:r>
              <a:t>Find missing null checks.</a:t>
            </a:r>
            <a:br/>
            <a:r>
              <a:t>Flag repeating-field bugs.</a:t>
            </a:r>
            <a:br/>
            <a:r>
              <a:t>Suggest refactored versions.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37160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Modernization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Recommend newer IRIS features.</a:t>
            </a:r>
            <a:br/>
            <a:r>
              <a:t>Replace custom BPL with DTL.</a:t>
            </a:r>
            <a:br/>
            <a:r>
              <a:t>Adopt HL7-to-SDA-to-FHIR.</a:t>
            </a:r>
            <a:br/>
            <a:r>
              <a:t>Use record maps over parsers.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Tools: get_production, query_event_log, top_errors, query_message_status, message_summary, queue_status, list_dtls, describe_class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51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Skills: Productions, DTL, BPL, Adapters, ESBPattern -- deep domain knowledge for context-aware recommendations</a:t>
            </a:r>
          </a:p>
        </p:txBody>
      </p:sp>
      <p:pic>
        <p:nvPicPr>
          <p:cNvPr id="22" name="Picture 21" descr="14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6344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3: Create &amp; Optimize Transformations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SDA3 is the universal pivot -- all external formats map through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828800"/>
            <a:ext cx="2286000" cy="6400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HL7 v2 (inbound)</a:t>
            </a:r>
            <a:br/>
            <a:r>
              <a:t>PID.11.3 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828800"/>
            <a:ext cx="2743200" cy="64008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SDA3 (canonical)</a:t>
            </a:r>
            <a:br/>
            <a:r>
              <a:t>Address.City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2560320" cy="6400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FHIR R4 (outbound)</a:t>
            </a:r>
            <a:br/>
            <a:r>
              <a:t>Address.city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B95A5"/>
                </a:solidFill>
                <a:latin typeface="Calibri"/>
              </a:defRPr>
            </a:pPr>
            <a:r>
              <a:t>HS.Gateway.HL7.</a:t>
            </a:r>
            <a:br/>
            <a:r>
              <a:t>HL7ToSDA3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B95A5"/>
                </a:solidFill>
                <a:latin typeface="Calibri"/>
              </a:defRPr>
            </a:pPr>
            <a:r>
              <a:t>HS.FHIR.DTL.SDA3.</a:t>
            </a:r>
            <a:br/>
            <a:r>
              <a:t>vR4.Address.Address</a:t>
            </a:r>
          </a:p>
        </p:txBody>
      </p:sp>
      <p:pic>
        <p:nvPicPr>
          <p:cNvPr id="10" name="Picture 9" descr="13_transforms_hl7_fh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Framework vs. Content: What Ships vs. What's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08F"/>
                </a:solidFill>
                <a:latin typeface="Calibri"/>
              </a:defRPr>
            </a:pPr>
            <a:r>
              <a:t>IRIS %AI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Shipped by InterSystems</a:t>
            </a:r>
            <a:br/>
            <a:r>
              <a:t>Do NOT modify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%AI.Agent runtime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%AI.MCP.Service transport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%AI.ToolSet / %AI.Tool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%AI.Agent.Skill engine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%AI.RAG.KnowledgeBase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Rust LLM bridge (multi-provider)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FastEmbed (384-dim vectors)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JSON Schema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Calibri"/>
              </a:defRPr>
            </a:pPr>
            <a:r>
              <a:t>Out-of-the-Box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Shipped as IPM package</a:t>
            </a:r>
            <a:br/>
            <a:r>
              <a:t>Upgradeable, overridable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HealthInterop Agent + policies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4 MCP Servers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42 Tools across 5 ToolSets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12 Skills (HL7, FHIR, DTL, ...)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2 Vector Catalogs (222 classes)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Data Atlas (1,538 field mappings)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Admin UI + Chat UI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Overlay pattern for customization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1371600"/>
            <a:ext cx="3383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Customer /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Built on top of framework</a:t>
            </a:r>
            <a:br/>
            <a:r>
              <a:t>Distributed via IPM / 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Agents (Lab, Pharmacy, Claims)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MCP Servers (EHR wrappers)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Tools (org-specific APIs)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Skills (local conventions)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SE accelerators (common patterns)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ISV tool packs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Training datasets for skills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Regional HL7 profile knowledge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Vector Catalogs: Semantic Search over IRIS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9728" cy="12801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search_ens  (164 classes)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5A"/>
                </a:solidFill>
                <a:latin typeface="Calibri"/>
              </a:defRPr>
            </a:pPr>
            <a:r>
              <a:t>Business Hosts, Services, Processes, Operations, Adapters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BS:53  BO:38  BP:14  MSG:14  OBA:14  UTL:14  IBA:13  DTL:2  PRD:1  BPL:1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5156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34640"/>
            <a:ext cx="109728" cy="1280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search_hs  (58 classes)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5A"/>
                </a:solidFill>
                <a:latin typeface="Calibri"/>
              </a:defRPr>
            </a:pPr>
            <a:r>
              <a:t>HealthShare transformations, FHIR mappers, SDA helpers, HL7 gateways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DTL:10  SCH:9  BS:8  BP:7  BO:7  GATEWAY:5  API:5  FHIR-DTL:3  CDA:2  HS-MESSAGE:1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515600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Key lesson: curated prose (class name + description + key parameters) dramatically outperforms raw class dumps in 384-dim embeddings. Auto-generated accessors and storage boilerplate drown out semantic signal.</a:t>
            </a:r>
          </a:p>
        </p:txBody>
      </p:sp>
      <p:pic>
        <p:nvPicPr>
          <p:cNvPr id="15" name="Picture 14" descr="11_cata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3949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Performance: Token Optimization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95A5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56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Tool catalog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8562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~15K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8562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~10K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8562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-33%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591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System prompt 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591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~5K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591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~2K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59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-60%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8892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8620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Simple query (total)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862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~25K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862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~15K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62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649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Complex task (total)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3649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~120K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649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~50K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-58%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9476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8679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Simple query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867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8-12s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867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3-5s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8679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-60%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370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Complex task latency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90s+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45-60s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3708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Six optimization strategies applied: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ToolFilter policy: strips 15 framework waste tools before each LLM 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Concise tool descriptions: imperative contracts instead of verbose explanations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No markdown in responses: eliminates rendering bugs in chat UI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Monitor token budget: 50K cap per turn prevents runaway costs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Multi-turn task decomposition: research -&gt; propose -&gt; build -&gt; validate -&gt; report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Compact system prompt: &lt; 2K tokens; domain knowledge lives in Skills, not in prompt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6E8EB"/>
                </a:solidFill>
                <a:latin typeface="Calibri"/>
              </a:defRPr>
            </a:pPr>
            <a:r>
              <a:t>Roadmap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Calibri"/>
              </a:defRPr>
            </a:pPr>
            <a:r>
              <a:t>Now (Q3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Fix Skill %OnNew $ZF marshaling bug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Fix Bedrock tool-result round-trip hang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Ship ToolFilter as framework default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Document %AI.ToolMgr.ExecuteTool query path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Package as IPM for field trial (3 customers)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Next (Q4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Multi-agent support (Lab, Pharmacy, Claims)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Tool authoring wizard in admin UI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Skill content editor with live preview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FHIR STU3 and CDA Data Atlas coverage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Open Exchange publication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371600"/>
            <a:ext cx="3383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Later (2027)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Community marketplace for tools and skills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SE accelerator library (20+ production patterns)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Automated migration assistant (upgrade old DTLs)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Multi-namespace agent isolation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Embedded training mode (learn-by-building)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Blockers to resolve before field trial: 2 framework bugs (Skill %OnNew, Bedrock hang)  |  Built on IRIS for Health 2026.2 with %AI Framework build 162.0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